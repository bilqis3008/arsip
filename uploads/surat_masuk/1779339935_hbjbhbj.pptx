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itter Medium" panose="020B0604020202020204" charset="0"/>
      <p:regular r:id="rId13"/>
    </p:embeddedFont>
    <p:embeddedFont>
      <p:font typeface="Open Sans" panose="020B0606030504020204" pitchFamily="34" charset="0"/>
      <p:regular r:id="rId14"/>
      <p:bold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260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2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9135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Rancang Bangun Aplikasi Arsip Digital Berbasis Website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78993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Dinas Pendidikan dan Kebudayaan Kabupaten Muara Enim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3180978"/>
            <a:ext cx="887090" cy="266402"/>
          </a:xfrm>
          <a:prstGeom prst="roundRect">
            <a:avLst>
              <a:gd name="adj" fmla="val 17880"/>
            </a:avLst>
          </a:prstGeom>
          <a:solidFill>
            <a:srgbClr val="FCE2CF"/>
          </a:solidFill>
          <a:ln/>
        </p:spPr>
      </p:sp>
      <p:sp>
        <p:nvSpPr>
          <p:cNvPr id="5" name="Text 3"/>
          <p:cNvSpPr/>
          <p:nvPr/>
        </p:nvSpPr>
        <p:spPr>
          <a:xfrm>
            <a:off x="581174" y="3223468"/>
            <a:ext cx="117417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TUGAS AKHIR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54051" y="3176215"/>
            <a:ext cx="2464817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D260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3869" y="3223468"/>
            <a:ext cx="274238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BILQIS NABILA UMMAMI · 09010182327014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807861-49CB-A17D-A949-954A60811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740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Latar Belakang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5299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Dinas Pendidikan dan Kebudayaan Kab. Muara Enim mengelola surat masuk dan keluar secara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konvensional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dicatat manual, disimpan dalam map fisik. Kondisi ini menimbulkan berbagai kendala: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566095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71261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Pencarian Lambat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3019127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Petugas harus menelusuri satu per satu map arsip secara manual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566095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7122" y="271261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Risiko Kehilangan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7122" y="3019127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Dokumen rentan rusak akibat usia, kelembaban, atau bencana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566095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1605" y="271261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Disposisi Terpisah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1605" y="3019127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Pelacakan tindak lanjut dan rekapitulasi dilakukan secara manual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1430AC-07CD-C89B-99B5-92CE6B1D1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690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Tujuan &amp; Manfaat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5424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Tujuan Penelitian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1642244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635175"/>
            <a:ext cx="344224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Merancang aplikasi arsip digital berbasis website untuk pencatatan surat masuk &amp; keluar secara digital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2606204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2599134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Membangun fitur disposisi surat masuk secara sistematis dan terstruktur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343349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3336280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Mengembangkan sistem pencarian arsip yang efektif berdasarkan berbagai kriteria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4080495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407342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Membangun pelaporan otomatis untuk mendukung pengambilan keputusan pimpinan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749701" y="125424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Manfaat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749701" y="1617464"/>
            <a:ext cx="3902943" cy="2190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Mempermudah pencatatan, penyimpanan, dan pencarian arsip secara terintegrasi bagi sekretariat, admin bidang, dan staf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Mendukung pengawasan Kepala Dinas terhadap disposisi dan tindak lanjut surat secara real-time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Mengurangi ketergantungan pada penyimpanan fisik dan mengoptimalkan ruang arsip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Memberikan pengalaman langsung dalam pengembangan sistem informasi pemerintahan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E20536-05AC-0534-E84F-12CE43A68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97"/>
            <a:ext cx="66216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Batasan Masalah &amp; Metode Penelitian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144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Batasan Masalah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72369"/>
            <a:ext cx="1880592" cy="1228874"/>
          </a:xfrm>
          <a:prstGeom prst="roundRect">
            <a:avLst>
              <a:gd name="adj" fmla="val 7441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069" y="1572369"/>
            <a:ext cx="76200" cy="1228874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</p:sp>
      <p:sp>
        <p:nvSpPr>
          <p:cNvPr id="6" name="Text 4"/>
          <p:cNvSpPr/>
          <p:nvPr/>
        </p:nvSpPr>
        <p:spPr>
          <a:xfrm>
            <a:off x="714077" y="1733178"/>
            <a:ext cx="150182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Dibatasi pada arsip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surat masuk &amp; keluar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surat rahasia tidak termasuk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572369"/>
            <a:ext cx="1880592" cy="1228874"/>
          </a:xfrm>
          <a:prstGeom prst="roundRect">
            <a:avLst>
              <a:gd name="adj" fmla="val 7441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99420" y="1572369"/>
            <a:ext cx="76200" cy="1228874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2736428" y="1733178"/>
            <a:ext cx="150182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Surat keluar hanya berupa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arsip surat balasan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yang sudah selesai dibuat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943002"/>
            <a:ext cx="1880592" cy="1228874"/>
          </a:xfrm>
          <a:prstGeom prst="roundRect">
            <a:avLst>
              <a:gd name="adj" fmla="val 7441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069" y="2943002"/>
            <a:ext cx="76200" cy="1228874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</p:sp>
      <p:sp>
        <p:nvSpPr>
          <p:cNvPr id="12" name="Text 10"/>
          <p:cNvSpPr/>
          <p:nvPr/>
        </p:nvSpPr>
        <p:spPr>
          <a:xfrm>
            <a:off x="714077" y="3103811"/>
            <a:ext cx="150182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Pengguna: Sekretariat, Kepala Dinas, Admin Bidang, dan Staff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8470" y="2943002"/>
            <a:ext cx="1880592" cy="1228874"/>
          </a:xfrm>
          <a:prstGeom prst="roundRect">
            <a:avLst>
              <a:gd name="adj" fmla="val 7441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9420" y="2943002"/>
            <a:ext cx="76200" cy="1228874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</p:sp>
      <p:sp>
        <p:nvSpPr>
          <p:cNvPr id="15" name="Text 13"/>
          <p:cNvSpPr/>
          <p:nvPr/>
        </p:nvSpPr>
        <p:spPr>
          <a:xfrm>
            <a:off x="2736428" y="3103811"/>
            <a:ext cx="150182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Pengembangan menggunakan metode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RAD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(iteratif &amp; prototipe)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9701" y="119144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Pengumpulan Data</a:t>
            </a:r>
            <a:endParaRPr lang="en-US" sz="13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701" y="1572369"/>
            <a:ext cx="354360" cy="3543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81240" y="157236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Observasi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281240" y="1935584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Pengamatan langsung proses pengelolaan arsip manual di dinas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701" y="2672730"/>
            <a:ext cx="354360" cy="3543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81240" y="26727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Wawancara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5281240" y="3035945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Tanya jawab dengan staf administrasi dan petugas kearsipan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9701" y="3773091"/>
            <a:ext cx="354360" cy="35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81240" y="377309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Studi Literatur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281240" y="4136306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Kajian buku, jurnal, dan artikel terkait arsip digital &amp; sistem web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08E3E6C-1B9C-717E-9DD7-7DF02D2019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285378"/>
            <a:ext cx="6877869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Metode Pengembangan: Rapid Application Development (RAD)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1048494"/>
            <a:ext cx="733506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RAD mengutamakan kecepatan, fleksibilitas, dan partisipasi aktif pengguna melalui pendekatan iteratif dan pembuatan prototipe.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984" y="1263104"/>
            <a:ext cx="6637883" cy="32446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5522" y="2025691"/>
            <a:ext cx="240719" cy="2407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6924" y="2379463"/>
            <a:ext cx="1776081" cy="193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Analisis Kebutuhan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4687" y="2507130"/>
            <a:ext cx="240720" cy="2407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48850" y="1636672"/>
            <a:ext cx="1776081" cy="193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Perancangan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0652" y="3518151"/>
            <a:ext cx="240719" cy="24071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12167" y="3163520"/>
            <a:ext cx="1776081" cy="193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Pengembangan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91594" y="3064223"/>
            <a:ext cx="240719" cy="24071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283470" y="3920066"/>
            <a:ext cx="1776081" cy="193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Implementasi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1133029" y="4586511"/>
            <a:ext cx="6877869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Keunggulan RAD: pengembangan lebih cepat, fleksibel terhadap perubahan kebutuhan, keterlibatan pengguna tinggi, risiko kesalahan diminimalkan melalui pengujian prototipe sejak awal.</a:t>
            </a:r>
            <a:endParaRPr lang="en-US" sz="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9A5035-1186-6785-E108-4FBF64F315C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87062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Alur Proses yang Sedang Berjalan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714503" y="2094086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792069" y="2371799"/>
            <a:ext cx="1682055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856038" y="3038921"/>
            <a:ext cx="1681981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792069" y="3038921"/>
            <a:ext cx="1682055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EB4B37-729B-A0B1-57BB-06A46106C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A928CF5-E4DD-C832-EC08-BE38ADF45F0C}"/>
              </a:ext>
            </a:extLst>
          </p:cNvPr>
          <p:cNvSpPr txBox="1"/>
          <p:nvPr/>
        </p:nvSpPr>
        <p:spPr>
          <a:xfrm>
            <a:off x="570088" y="701009"/>
            <a:ext cx="82126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>
              <a:buFont typeface="Wingdings" panose="05000000000000000000" pitchFamily="2" charset="2"/>
              <a:buChar char="v"/>
            </a:pPr>
            <a:r>
              <a:rPr lang="en-ID" sz="1400" b="1" dirty="0" err="1">
                <a:effectLst/>
              </a:rPr>
              <a:t>Penerimaan</a:t>
            </a:r>
            <a:r>
              <a:rPr lang="en-ID" sz="1400" b="1" dirty="0">
                <a:effectLst/>
              </a:rPr>
              <a:t> Surat</a:t>
            </a:r>
          </a:p>
          <a:p>
            <a:pPr algn="just" rtl="0"/>
            <a:r>
              <a:rPr lang="en-ID" sz="1400" dirty="0" err="1">
                <a:effectLst/>
              </a:rPr>
              <a:t>Sekretariat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menerima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surat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fisik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berupa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lembaran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kertas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langsung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dari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kurir</a:t>
            </a:r>
            <a:r>
              <a:rPr lang="en-ID" sz="1400" dirty="0">
                <a:effectLst/>
              </a:rPr>
              <a:t>/</a:t>
            </a:r>
            <a:r>
              <a:rPr lang="en-ID" sz="1400" dirty="0" err="1">
                <a:effectLst/>
              </a:rPr>
              <a:t>pengirim</a:t>
            </a:r>
            <a:r>
              <a:rPr lang="en-ID" sz="1400" dirty="0">
                <a:effectLst/>
              </a:rPr>
              <a:t>.</a:t>
            </a:r>
          </a:p>
          <a:p>
            <a:pPr algn="just" rtl="0"/>
            <a:endParaRPr lang="en-ID" sz="1400" dirty="0">
              <a:effectLst/>
            </a:endParaRPr>
          </a:p>
          <a:p>
            <a:pPr marL="285750" indent="-285750" algn="just" rtl="0">
              <a:buFont typeface="Wingdings" panose="05000000000000000000" pitchFamily="2" charset="2"/>
              <a:buChar char="v"/>
            </a:pPr>
            <a:r>
              <a:rPr lang="en-ID" sz="1400" b="1" dirty="0" err="1">
                <a:effectLst/>
              </a:rPr>
              <a:t>Pencatatan</a:t>
            </a:r>
            <a:r>
              <a:rPr lang="en-ID" sz="1400" b="1" dirty="0">
                <a:effectLst/>
              </a:rPr>
              <a:t> </a:t>
            </a:r>
            <a:r>
              <a:rPr lang="en-ID" sz="1400" b="1" dirty="0" err="1">
                <a:effectLst/>
              </a:rPr>
              <a:t>Buku</a:t>
            </a:r>
            <a:r>
              <a:rPr lang="en-ID" sz="1400" b="1" dirty="0">
                <a:effectLst/>
              </a:rPr>
              <a:t> Agenda</a:t>
            </a:r>
            <a:endParaRPr lang="en-ID" sz="1400" b="1" dirty="0"/>
          </a:p>
          <a:p>
            <a:pPr algn="just" rtl="0"/>
            <a:r>
              <a:rPr lang="en-ID" sz="1400" dirty="0" err="1">
                <a:effectLst/>
              </a:rPr>
              <a:t>Sekretariat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menulis</a:t>
            </a:r>
            <a:r>
              <a:rPr lang="en-ID" sz="1400" dirty="0">
                <a:effectLst/>
              </a:rPr>
              <a:t> data </a:t>
            </a:r>
            <a:r>
              <a:rPr lang="en-ID" sz="1400" dirty="0" err="1">
                <a:effectLst/>
              </a:rPr>
              <a:t>surat</a:t>
            </a:r>
            <a:r>
              <a:rPr lang="en-ID" sz="1400" dirty="0">
                <a:effectLst/>
              </a:rPr>
              <a:t> (</a:t>
            </a:r>
            <a:r>
              <a:rPr lang="en-ID" sz="1400" dirty="0" err="1">
                <a:effectLst/>
              </a:rPr>
              <a:t>nomor</a:t>
            </a:r>
            <a:r>
              <a:rPr lang="en-ID" sz="1400" dirty="0">
                <a:effectLst/>
              </a:rPr>
              <a:t>, </a:t>
            </a:r>
            <a:r>
              <a:rPr lang="en-ID" sz="1400" dirty="0" err="1">
                <a:effectLst/>
              </a:rPr>
              <a:t>asal</a:t>
            </a:r>
            <a:r>
              <a:rPr lang="en-ID" sz="1400" dirty="0">
                <a:effectLst/>
              </a:rPr>
              <a:t>, </a:t>
            </a:r>
            <a:r>
              <a:rPr lang="en-ID" sz="1400" dirty="0" err="1">
                <a:effectLst/>
              </a:rPr>
              <a:t>perihal</a:t>
            </a:r>
            <a:r>
              <a:rPr lang="en-ID" sz="1400" dirty="0">
                <a:effectLst/>
              </a:rPr>
              <a:t>) </a:t>
            </a:r>
            <a:r>
              <a:rPr lang="en-ID" sz="1400" dirty="0" err="1">
                <a:effectLst/>
              </a:rPr>
              <a:t>secara</a:t>
            </a:r>
            <a:r>
              <a:rPr lang="en-ID" sz="1400" dirty="0">
                <a:effectLst/>
              </a:rPr>
              <a:t> manual di </a:t>
            </a:r>
            <a:r>
              <a:rPr lang="en-ID" sz="1400" dirty="0" err="1">
                <a:effectLst/>
              </a:rPr>
              <a:t>buku</a:t>
            </a:r>
            <a:r>
              <a:rPr lang="en-ID" sz="1400" dirty="0">
                <a:effectLst/>
              </a:rPr>
              <a:t> agenda </a:t>
            </a:r>
            <a:r>
              <a:rPr lang="en-ID" sz="1400" dirty="0" err="1">
                <a:effectLst/>
              </a:rPr>
              <a:t>besar</a:t>
            </a:r>
            <a:r>
              <a:rPr lang="en-ID" sz="1400" dirty="0">
                <a:effectLst/>
              </a:rPr>
              <a:t>.</a:t>
            </a:r>
          </a:p>
          <a:p>
            <a:pPr algn="just" rtl="0"/>
            <a:endParaRPr lang="en-ID" sz="1400" dirty="0">
              <a:effectLst/>
            </a:endParaRPr>
          </a:p>
          <a:p>
            <a:pPr marL="285750" indent="-285750" algn="just" rtl="0">
              <a:buFont typeface="Wingdings" panose="05000000000000000000" pitchFamily="2" charset="2"/>
              <a:buChar char="v"/>
            </a:pPr>
            <a:r>
              <a:rPr lang="en-ID" sz="1400" b="1" dirty="0" err="1">
                <a:effectLst/>
              </a:rPr>
              <a:t>Pengantaran</a:t>
            </a:r>
            <a:r>
              <a:rPr lang="en-ID" sz="1400" b="1" dirty="0">
                <a:effectLst/>
              </a:rPr>
              <a:t> Fisik </a:t>
            </a:r>
            <a:r>
              <a:rPr lang="en-ID" sz="1400" b="1" dirty="0" err="1">
                <a:effectLst/>
              </a:rPr>
              <a:t>ke</a:t>
            </a:r>
            <a:r>
              <a:rPr lang="en-ID" sz="1400" b="1" dirty="0">
                <a:effectLst/>
              </a:rPr>
              <a:t> Kadin</a:t>
            </a:r>
            <a:endParaRPr lang="en-ID" sz="1400" b="1" dirty="0"/>
          </a:p>
          <a:p>
            <a:pPr algn="just" rtl="0"/>
            <a:r>
              <a:rPr lang="en-ID" sz="1400" dirty="0" err="1">
                <a:effectLst/>
              </a:rPr>
              <a:t>Sekretariat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membawa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lembaran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surat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fisik</a:t>
            </a:r>
            <a:r>
              <a:rPr lang="en-ID" sz="1400" dirty="0">
                <a:effectLst/>
              </a:rPr>
              <a:t> dan </a:t>
            </a:r>
            <a:r>
              <a:rPr lang="en-ID" sz="1400" dirty="0" err="1">
                <a:effectLst/>
              </a:rPr>
              <a:t>selembar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kertas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disposisi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kosong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ke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meja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Kepala</a:t>
            </a:r>
            <a:r>
              <a:rPr lang="en-ID" sz="1400" dirty="0">
                <a:effectLst/>
              </a:rPr>
              <a:t> Dinas.</a:t>
            </a:r>
          </a:p>
          <a:p>
            <a:pPr algn="just" rtl="0"/>
            <a:endParaRPr lang="en-ID" sz="1400" dirty="0">
              <a:effectLst/>
            </a:endParaRPr>
          </a:p>
          <a:p>
            <a:pPr marL="285750" indent="-285750" algn="just" rtl="0">
              <a:buFont typeface="Wingdings" panose="05000000000000000000" pitchFamily="2" charset="2"/>
              <a:buChar char="v"/>
            </a:pPr>
            <a:r>
              <a:rPr lang="en-ID" sz="1400" b="1" dirty="0">
                <a:effectLst/>
              </a:rPr>
              <a:t> </a:t>
            </a:r>
            <a:r>
              <a:rPr lang="en-ID" sz="1400" b="1" dirty="0" err="1">
                <a:effectLst/>
              </a:rPr>
              <a:t>Penulisan</a:t>
            </a:r>
            <a:r>
              <a:rPr lang="en-ID" sz="1400" b="1" dirty="0">
                <a:effectLst/>
              </a:rPr>
              <a:t> </a:t>
            </a:r>
            <a:r>
              <a:rPr lang="en-ID" sz="1400" b="1" dirty="0" err="1">
                <a:effectLst/>
              </a:rPr>
              <a:t>Disposisi</a:t>
            </a:r>
            <a:r>
              <a:rPr lang="en-ID" sz="1400" b="1" dirty="0">
                <a:effectLst/>
              </a:rPr>
              <a:t> Manual</a:t>
            </a:r>
          </a:p>
          <a:p>
            <a:pPr algn="just" rtl="0"/>
            <a:r>
              <a:rPr lang="en-ID" sz="1400" dirty="0" err="1">
                <a:effectLst/>
              </a:rPr>
              <a:t>Kepala</a:t>
            </a:r>
            <a:r>
              <a:rPr lang="en-ID" sz="1400" dirty="0">
                <a:effectLst/>
              </a:rPr>
              <a:t> Dinas </a:t>
            </a:r>
            <a:r>
              <a:rPr lang="en-ID" sz="1400" dirty="0" err="1">
                <a:effectLst/>
              </a:rPr>
              <a:t>membaca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surat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kertas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tersebut</a:t>
            </a:r>
            <a:r>
              <a:rPr lang="en-ID" sz="1400" dirty="0">
                <a:effectLst/>
              </a:rPr>
              <a:t>, </a:t>
            </a:r>
            <a:r>
              <a:rPr lang="en-ID" sz="1400" dirty="0" err="1">
                <a:effectLst/>
              </a:rPr>
              <a:t>lalu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menuliskan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instruksi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perintah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menggunakan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pena</a:t>
            </a:r>
            <a:r>
              <a:rPr lang="en-ID" sz="1400" dirty="0">
                <a:effectLst/>
              </a:rPr>
              <a:t>.</a:t>
            </a:r>
          </a:p>
          <a:p>
            <a:pPr algn="just" rtl="0"/>
            <a:endParaRPr lang="en-ID" sz="1400" dirty="0">
              <a:effectLst/>
            </a:endParaRPr>
          </a:p>
          <a:p>
            <a:pPr marL="285750" indent="-285750" algn="just" rtl="0">
              <a:buFont typeface="Wingdings" panose="05000000000000000000" pitchFamily="2" charset="2"/>
              <a:buChar char="v"/>
            </a:pPr>
            <a:r>
              <a:rPr lang="en-ID" sz="1400" b="1" dirty="0" err="1">
                <a:effectLst/>
              </a:rPr>
              <a:t>Distribusi</a:t>
            </a:r>
            <a:r>
              <a:rPr lang="en-ID" sz="1400" b="1" dirty="0">
                <a:effectLst/>
              </a:rPr>
              <a:t> Antar </a:t>
            </a:r>
            <a:r>
              <a:rPr lang="en-ID" sz="1400" b="1" dirty="0" err="1">
                <a:effectLst/>
              </a:rPr>
              <a:t>Ruangan</a:t>
            </a:r>
            <a:endParaRPr lang="en-ID" sz="1400" b="1" dirty="0"/>
          </a:p>
          <a:p>
            <a:pPr algn="just" rtl="0"/>
            <a:r>
              <a:rPr lang="en-ID" sz="1400" dirty="0">
                <a:effectLst/>
              </a:rPr>
              <a:t>Staf </a:t>
            </a:r>
            <a:r>
              <a:rPr lang="en-ID" sz="1400" dirty="0" err="1">
                <a:effectLst/>
              </a:rPr>
              <a:t>sekretariat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mengambil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kembali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surat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tersebut</a:t>
            </a:r>
            <a:r>
              <a:rPr lang="en-ID" sz="1400" dirty="0">
                <a:effectLst/>
              </a:rPr>
              <a:t> dan </a:t>
            </a:r>
            <a:r>
              <a:rPr lang="en-ID" sz="1400" dirty="0" err="1">
                <a:effectLst/>
              </a:rPr>
              <a:t>mengantarkannya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berjalan</a:t>
            </a:r>
            <a:r>
              <a:rPr lang="en-ID" sz="1400" dirty="0">
                <a:effectLst/>
              </a:rPr>
              <a:t> kaki </a:t>
            </a:r>
            <a:r>
              <a:rPr lang="en-ID" sz="1400" dirty="0" err="1">
                <a:effectLst/>
              </a:rPr>
              <a:t>ke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ruangan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Kepala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Bidang</a:t>
            </a:r>
            <a:r>
              <a:rPr lang="en-ID" sz="1400" dirty="0">
                <a:effectLst/>
              </a:rPr>
              <a:t>.</a:t>
            </a:r>
          </a:p>
          <a:p>
            <a:pPr algn="just" rtl="0"/>
            <a:endParaRPr lang="en-ID" sz="1400" dirty="0">
              <a:effectLst/>
            </a:endParaRPr>
          </a:p>
          <a:p>
            <a:pPr marL="285750" indent="-285750" algn="just" rtl="0">
              <a:buFont typeface="Wingdings" panose="05000000000000000000" pitchFamily="2" charset="2"/>
              <a:buChar char="v"/>
            </a:pPr>
            <a:r>
              <a:rPr lang="en-ID" sz="1400" b="1" dirty="0">
                <a:effectLst/>
              </a:rPr>
              <a:t> </a:t>
            </a:r>
            <a:r>
              <a:rPr lang="en-ID" sz="1400" b="1" dirty="0" err="1">
                <a:effectLst/>
              </a:rPr>
              <a:t>Pengarsipan</a:t>
            </a:r>
            <a:r>
              <a:rPr lang="en-ID" sz="1400" b="1" dirty="0">
                <a:effectLst/>
              </a:rPr>
              <a:t> di Lemari</a:t>
            </a:r>
          </a:p>
          <a:p>
            <a:pPr algn="just" rtl="0"/>
            <a:r>
              <a:rPr lang="en-ID" sz="1400" dirty="0">
                <a:effectLst/>
              </a:rPr>
              <a:t>Surat yang </a:t>
            </a:r>
            <a:r>
              <a:rPr lang="en-ID" sz="1400" dirty="0" err="1">
                <a:effectLst/>
              </a:rPr>
              <a:t>telah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selesai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ditindaklanjuti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disimpan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ke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dalam</a:t>
            </a:r>
            <a:r>
              <a:rPr lang="en-ID" sz="1400" dirty="0">
                <a:effectLst/>
              </a:rPr>
              <a:t> map </a:t>
            </a:r>
            <a:r>
              <a:rPr lang="en-ID" sz="1400" dirty="0" err="1">
                <a:effectLst/>
              </a:rPr>
              <a:t>fisik</a:t>
            </a:r>
            <a:r>
              <a:rPr lang="en-ID" sz="1400" dirty="0">
                <a:effectLst/>
              </a:rPr>
              <a:t> dan </a:t>
            </a:r>
            <a:r>
              <a:rPr lang="en-ID" sz="1400" dirty="0" err="1">
                <a:effectLst/>
              </a:rPr>
              <a:t>ditumpuk</a:t>
            </a:r>
            <a:r>
              <a:rPr lang="en-ID" sz="1400" dirty="0">
                <a:effectLst/>
              </a:rPr>
              <a:t> di </a:t>
            </a:r>
            <a:r>
              <a:rPr lang="en-ID" sz="1400" dirty="0" err="1">
                <a:effectLst/>
              </a:rPr>
              <a:t>dalam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lemari</a:t>
            </a:r>
            <a:r>
              <a:rPr lang="en-ID" sz="1400" dirty="0">
                <a:effectLst/>
              </a:rPr>
              <a:t> </a:t>
            </a:r>
            <a:r>
              <a:rPr lang="en-ID" sz="1400" dirty="0" err="1">
                <a:effectLst/>
              </a:rPr>
              <a:t>arsip</a:t>
            </a:r>
            <a:r>
              <a:rPr lang="en-ID" sz="1400" dirty="0"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85316"/>
            <a:ext cx="5279529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Kebutuhan Fungsional Sistem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0640" y="1080492"/>
            <a:ext cx="2638871" cy="1988641"/>
          </a:xfrm>
          <a:prstGeom prst="roundRect">
            <a:avLst>
              <a:gd name="adj" fmla="val 2901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697" y="1222549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D260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955" y="1335807"/>
            <a:ext cx="185365" cy="185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767483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Admin Sekretariat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2697" y="2061790"/>
            <a:ext cx="235475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surat masuk, kelola surat keluar, manajemen pengguna, verifikasi staff, monitoring surat, laporan arsip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52490" y="1080492"/>
            <a:ext cx="2638946" cy="1988641"/>
          </a:xfrm>
          <a:prstGeom prst="roundRect">
            <a:avLst>
              <a:gd name="adj" fmla="val 2901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94546" y="1222549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D2600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7804" y="1335807"/>
            <a:ext cx="185365" cy="1853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94546" y="1767483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Kepala Dinas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394546" y="2061790"/>
            <a:ext cx="235483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Disposisi surat, monitoring alur surat, laporan data surat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24414" y="1080492"/>
            <a:ext cx="2638946" cy="1988641"/>
          </a:xfrm>
          <a:prstGeom prst="roundRect">
            <a:avLst>
              <a:gd name="adj" fmla="val 2901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66470" y="1222549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D26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9728" y="1335807"/>
            <a:ext cx="185365" cy="1853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470" y="1767483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Admin Bidang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470" y="2061790"/>
            <a:ext cx="235483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Disposisi internal, monitoring seksi, verifikasi surat keluar, laporan bidang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640" y="3202112"/>
            <a:ext cx="4024833" cy="1555998"/>
          </a:xfrm>
          <a:prstGeom prst="roundRect">
            <a:avLst>
              <a:gd name="adj" fmla="val 370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2697" y="3344168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D2600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5955" y="3457426"/>
            <a:ext cx="185365" cy="1853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2697" y="3889102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Staff Bidang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2697" y="4183410"/>
            <a:ext cx="374072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Surat tugas, unggah surat balasan, monitoring alur, laporan pribadi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38452" y="3202112"/>
            <a:ext cx="4024908" cy="1555998"/>
          </a:xfrm>
          <a:prstGeom prst="roundRect">
            <a:avLst>
              <a:gd name="adj" fmla="val 370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80508" y="3344168"/>
            <a:ext cx="411956" cy="411956"/>
          </a:xfrm>
          <a:prstGeom prst="roundRect">
            <a:avLst>
              <a:gd name="adj" fmla="val 13871454"/>
            </a:avLst>
          </a:prstGeom>
          <a:solidFill>
            <a:srgbClr val="D2600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93766" y="3457426"/>
            <a:ext cx="185365" cy="1853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0508" y="3889102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Instansi Luar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0508" y="4183410"/>
            <a:ext cx="37407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Cari dan lacak status surat berdasarkan nomor atau data tertentu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2657C44-DAF5-9A07-D0E9-BE5CFA8D65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5145" y="285527"/>
            <a:ext cx="267228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Desain Sistem: UML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515145" y="2125191"/>
            <a:ext cx="15647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515145" y="2318965"/>
            <a:ext cx="1999283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699" y="577006"/>
            <a:ext cx="3898255" cy="34839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3222" y="4414317"/>
            <a:ext cx="180483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3669581" y="4414317"/>
            <a:ext cx="180483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725939" y="4414317"/>
            <a:ext cx="1804839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6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C03733-CED4-A37A-F6D3-026CF2D3A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4A5287-CC19-24F0-9D24-29D6D721E631}"/>
              </a:ext>
            </a:extLst>
          </p:cNvPr>
          <p:cNvSpPr txBox="1"/>
          <p:nvPr/>
        </p:nvSpPr>
        <p:spPr>
          <a:xfrm>
            <a:off x="181015" y="530548"/>
            <a:ext cx="4560684" cy="366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 err="1"/>
              <a:t>Sistem</a:t>
            </a:r>
            <a:r>
              <a:rPr lang="en-ID" sz="1200" dirty="0"/>
              <a:t> </a:t>
            </a:r>
            <a:r>
              <a:rPr lang="en-ID" sz="1200" dirty="0" err="1"/>
              <a:t>melibatkan</a:t>
            </a:r>
            <a:r>
              <a:rPr lang="en-ID" sz="1200" dirty="0"/>
              <a:t> </a:t>
            </a:r>
            <a:r>
              <a:rPr lang="en-ID" sz="1200" b="1" dirty="0"/>
              <a:t>5 </a:t>
            </a:r>
            <a:r>
              <a:rPr lang="en-ID" sz="1200" b="1" dirty="0" err="1"/>
              <a:t>aktor</a:t>
            </a:r>
            <a:r>
              <a:rPr lang="en-ID" sz="1200" b="1" dirty="0"/>
              <a:t> </a:t>
            </a:r>
            <a:r>
              <a:rPr lang="en-ID" sz="1200" b="1" dirty="0" err="1"/>
              <a:t>utama</a:t>
            </a:r>
            <a:r>
              <a:rPr lang="en-ID" sz="1200" dirty="0"/>
              <a:t>: </a:t>
            </a:r>
            <a:r>
              <a:rPr lang="en-ID" sz="1200" dirty="0" err="1"/>
              <a:t>Sekretariat</a:t>
            </a:r>
            <a:r>
              <a:rPr lang="en-ID" sz="1200" dirty="0"/>
              <a:t> (Admin), </a:t>
            </a:r>
            <a:r>
              <a:rPr lang="en-ID" sz="1200" dirty="0" err="1"/>
              <a:t>Kepala</a:t>
            </a:r>
            <a:r>
              <a:rPr lang="en-ID" sz="1200" dirty="0"/>
              <a:t> Dinas, Admin </a:t>
            </a:r>
            <a:r>
              <a:rPr lang="en-ID" sz="1200" dirty="0" err="1"/>
              <a:t>Bidang</a:t>
            </a:r>
            <a:r>
              <a:rPr lang="en-ID" sz="1200" dirty="0"/>
              <a:t>, Staff, dan </a:t>
            </a:r>
            <a:r>
              <a:rPr lang="en-ID" sz="1200" dirty="0" err="1"/>
              <a:t>Instansi</a:t>
            </a:r>
            <a:r>
              <a:rPr lang="en-ID" sz="1200" dirty="0"/>
              <a:t>. </a:t>
            </a:r>
            <a:r>
              <a:rPr lang="en-ID" sz="1200" dirty="0" err="1"/>
              <a:t>Setiap</a:t>
            </a:r>
            <a:r>
              <a:rPr lang="en-ID" sz="1200" dirty="0"/>
              <a:t> </a:t>
            </a:r>
            <a:r>
              <a:rPr lang="en-ID" sz="1200" dirty="0" err="1"/>
              <a:t>aktor</a:t>
            </a:r>
            <a:r>
              <a:rPr lang="en-ID" sz="1200" dirty="0"/>
              <a:t>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hak</a:t>
            </a:r>
            <a:r>
              <a:rPr lang="en-ID" sz="1200" dirty="0"/>
              <a:t> </a:t>
            </a:r>
            <a:r>
              <a:rPr lang="en-ID" sz="1200" dirty="0" err="1"/>
              <a:t>akses</a:t>
            </a:r>
            <a:r>
              <a:rPr lang="en-ID" sz="1200" dirty="0"/>
              <a:t> dan </a:t>
            </a:r>
            <a:r>
              <a:rPr lang="en-ID" sz="1200" dirty="0" err="1"/>
              <a:t>fungsi</a:t>
            </a:r>
            <a:r>
              <a:rPr lang="en-ID" sz="1200" dirty="0"/>
              <a:t> yang </a:t>
            </a:r>
            <a:r>
              <a:rPr lang="en-ID" sz="1200" dirty="0" err="1"/>
              <a:t>berbeda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proses tata </a:t>
            </a:r>
            <a:r>
              <a:rPr lang="en-ID" sz="1200" dirty="0" err="1"/>
              <a:t>kelola</a:t>
            </a:r>
            <a:r>
              <a:rPr lang="en-ID" sz="1200" dirty="0"/>
              <a:t> </a:t>
            </a:r>
            <a:r>
              <a:rPr lang="en-ID" sz="1200" dirty="0" err="1"/>
              <a:t>arsip</a:t>
            </a:r>
            <a:r>
              <a:rPr lang="en-ID" sz="1200" dirty="0"/>
              <a:t> digital.</a:t>
            </a:r>
          </a:p>
          <a:p>
            <a:pPr>
              <a:lnSpc>
                <a:spcPct val="150000"/>
              </a:lnSpc>
            </a:pPr>
            <a:endParaRPr lang="en-ID" sz="1200" b="1" dirty="0"/>
          </a:p>
          <a:p>
            <a:pPr>
              <a:lnSpc>
                <a:spcPct val="150000"/>
              </a:lnSpc>
            </a:pPr>
            <a:endParaRPr lang="en-ID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b="1" dirty="0" err="1"/>
              <a:t>Sekretariat</a:t>
            </a:r>
            <a:r>
              <a:rPr lang="en-ID" sz="1200" b="1" dirty="0"/>
              <a:t> (Admin):</a:t>
            </a:r>
            <a:r>
              <a:rPr lang="en-ID" sz="1200" dirty="0"/>
              <a:t> Kelola user, </a:t>
            </a:r>
            <a:r>
              <a:rPr lang="en-ID" sz="1200" dirty="0" err="1"/>
              <a:t>verifikasi</a:t>
            </a:r>
            <a:r>
              <a:rPr lang="en-ID" sz="1200" dirty="0"/>
              <a:t> </a:t>
            </a:r>
            <a:r>
              <a:rPr lang="en-ID" sz="1200" dirty="0" err="1"/>
              <a:t>akun</a:t>
            </a:r>
            <a:r>
              <a:rPr lang="en-ID" sz="1200" dirty="0"/>
              <a:t>, </a:t>
            </a:r>
            <a:r>
              <a:rPr lang="en-ID" sz="1200" dirty="0" err="1"/>
              <a:t>kelola</a:t>
            </a:r>
            <a:r>
              <a:rPr lang="en-ID" sz="1200" dirty="0"/>
              <a:t> </a:t>
            </a:r>
            <a:r>
              <a:rPr lang="en-ID" sz="1200" dirty="0" err="1"/>
              <a:t>surat</a:t>
            </a:r>
            <a:r>
              <a:rPr lang="en-ID" sz="1200" dirty="0"/>
              <a:t> </a:t>
            </a:r>
            <a:r>
              <a:rPr lang="en-ID" sz="1200" dirty="0" err="1"/>
              <a:t>masuk</a:t>
            </a:r>
            <a:r>
              <a:rPr lang="en-ID" sz="1200" dirty="0"/>
              <a:t>, dan </a:t>
            </a:r>
            <a:r>
              <a:rPr lang="en-ID" sz="1200" dirty="0" err="1"/>
              <a:t>laporan</a:t>
            </a:r>
            <a:endParaRPr lang="en-ID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b="1" dirty="0" err="1"/>
              <a:t>Kepala</a:t>
            </a:r>
            <a:r>
              <a:rPr lang="en-ID" sz="1200" b="1" dirty="0"/>
              <a:t> Dinas:</a:t>
            </a:r>
            <a:r>
              <a:rPr lang="en-ID" sz="1200" dirty="0"/>
              <a:t> </a:t>
            </a:r>
            <a:r>
              <a:rPr lang="en-ID" sz="1200" dirty="0" err="1"/>
              <a:t>Memberikan</a:t>
            </a:r>
            <a:r>
              <a:rPr lang="en-ID" sz="1200" dirty="0"/>
              <a:t> </a:t>
            </a:r>
            <a:r>
              <a:rPr lang="en-ID" sz="1200" dirty="0" err="1"/>
              <a:t>disposisi</a:t>
            </a:r>
            <a:r>
              <a:rPr lang="en-ID" sz="1200" dirty="0"/>
              <a:t> </a:t>
            </a:r>
            <a:r>
              <a:rPr lang="en-ID" sz="1200" dirty="0" err="1"/>
              <a:t>surat</a:t>
            </a:r>
            <a:r>
              <a:rPr lang="en-ID" sz="1200" dirty="0"/>
              <a:t> dan </a:t>
            </a:r>
            <a:r>
              <a:rPr lang="en-ID" sz="1200" dirty="0" err="1"/>
              <a:t>memantau</a:t>
            </a:r>
            <a:r>
              <a:rPr lang="en-ID" sz="1200" dirty="0"/>
              <a:t> </a:t>
            </a:r>
            <a:r>
              <a:rPr lang="en-ID" sz="1200" dirty="0" err="1"/>
              <a:t>laporan</a:t>
            </a:r>
            <a:endParaRPr lang="en-ID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b="1" dirty="0"/>
              <a:t>Admin </a:t>
            </a:r>
            <a:r>
              <a:rPr lang="en-ID" sz="1200" b="1" dirty="0" err="1"/>
              <a:t>Bidang</a:t>
            </a:r>
            <a:r>
              <a:rPr lang="en-ID" sz="1200" b="1" dirty="0"/>
              <a:t>:</a:t>
            </a:r>
            <a:r>
              <a:rPr lang="en-ID" sz="1200" dirty="0"/>
              <a:t> </a:t>
            </a:r>
            <a:r>
              <a:rPr lang="en-ID" sz="1200" dirty="0" err="1"/>
              <a:t>Verifikasi</a:t>
            </a:r>
            <a:r>
              <a:rPr lang="en-ID" sz="1200" dirty="0"/>
              <a:t> </a:t>
            </a:r>
            <a:r>
              <a:rPr lang="en-ID" sz="1200" dirty="0" err="1"/>
              <a:t>surat</a:t>
            </a:r>
            <a:r>
              <a:rPr lang="en-ID" sz="1200" dirty="0"/>
              <a:t> </a:t>
            </a:r>
            <a:r>
              <a:rPr lang="en-ID" sz="1200" dirty="0" err="1"/>
              <a:t>disposisi</a:t>
            </a:r>
            <a:r>
              <a:rPr lang="en-ID" sz="1200" dirty="0"/>
              <a:t> dan </a:t>
            </a:r>
            <a:r>
              <a:rPr lang="en-ID" sz="1200" dirty="0" err="1"/>
              <a:t>kelola</a:t>
            </a:r>
            <a:r>
              <a:rPr lang="en-ID" sz="1200" dirty="0"/>
              <a:t> </a:t>
            </a:r>
            <a:r>
              <a:rPr lang="en-ID" sz="1200" dirty="0" err="1"/>
              <a:t>surat</a:t>
            </a:r>
            <a:r>
              <a:rPr lang="en-ID" sz="1200" dirty="0"/>
              <a:t> </a:t>
            </a:r>
            <a:r>
              <a:rPr lang="en-ID" sz="1200" dirty="0" err="1"/>
              <a:t>tugas</a:t>
            </a:r>
            <a:r>
              <a:rPr lang="en-ID" sz="1200" dirty="0"/>
              <a:t> internal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b="1" dirty="0"/>
              <a:t>Staff:</a:t>
            </a:r>
            <a:r>
              <a:rPr lang="en-ID" sz="1200" dirty="0"/>
              <a:t> </a:t>
            </a:r>
            <a:r>
              <a:rPr lang="en-ID" sz="1200" dirty="0" err="1"/>
              <a:t>Registrasi</a:t>
            </a:r>
            <a:r>
              <a:rPr lang="en-ID" sz="1200" dirty="0"/>
              <a:t> </a:t>
            </a:r>
            <a:r>
              <a:rPr lang="en-ID" sz="1200" dirty="0" err="1"/>
              <a:t>akun</a:t>
            </a:r>
            <a:r>
              <a:rPr lang="en-ID" sz="1200" dirty="0"/>
              <a:t>, input </a:t>
            </a:r>
            <a:r>
              <a:rPr lang="en-ID" sz="1200" dirty="0" err="1"/>
              <a:t>surat</a:t>
            </a:r>
            <a:r>
              <a:rPr lang="en-ID" sz="1200" dirty="0"/>
              <a:t> </a:t>
            </a:r>
            <a:r>
              <a:rPr lang="en-ID" sz="1200" dirty="0" err="1"/>
              <a:t>keluar</a:t>
            </a:r>
            <a:r>
              <a:rPr lang="en-ID" sz="1200" dirty="0"/>
              <a:t>, dan </a:t>
            </a:r>
            <a:r>
              <a:rPr lang="en-ID" sz="1200" dirty="0" err="1"/>
              <a:t>cari</a:t>
            </a:r>
            <a:r>
              <a:rPr lang="en-ID" sz="1200" dirty="0"/>
              <a:t> </a:t>
            </a:r>
            <a:r>
              <a:rPr lang="en-ID" sz="1200" dirty="0" err="1"/>
              <a:t>surat</a:t>
            </a:r>
            <a:endParaRPr lang="en-ID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b="1" dirty="0" err="1"/>
              <a:t>Instansi</a:t>
            </a:r>
            <a:r>
              <a:rPr lang="en-ID" sz="1200" b="1" dirty="0"/>
              <a:t>:</a:t>
            </a:r>
            <a:r>
              <a:rPr lang="en-ID" sz="1200" dirty="0"/>
              <a:t> </a:t>
            </a:r>
            <a:r>
              <a:rPr lang="en-ID" sz="1200" dirty="0" err="1"/>
              <a:t>Melakukan</a:t>
            </a:r>
            <a:r>
              <a:rPr lang="en-ID" sz="1200" dirty="0"/>
              <a:t> </a:t>
            </a:r>
            <a:r>
              <a:rPr lang="en-ID" sz="1200" dirty="0" err="1"/>
              <a:t>pencarian</a:t>
            </a:r>
            <a:r>
              <a:rPr lang="en-ID" sz="1200" dirty="0"/>
              <a:t> </a:t>
            </a:r>
            <a:r>
              <a:rPr lang="en-ID" sz="1200" dirty="0" err="1"/>
              <a:t>surat</a:t>
            </a:r>
            <a:r>
              <a:rPr lang="en-ID" sz="1200" dirty="0"/>
              <a:t> (</a:t>
            </a:r>
            <a:r>
              <a:rPr lang="en-ID" sz="1200" i="1" dirty="0"/>
              <a:t>Cari Surat</a:t>
            </a:r>
            <a:r>
              <a:rPr lang="en-ID" sz="1200" dirty="0"/>
              <a:t>)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terbatas</a:t>
            </a:r>
            <a:endParaRPr lang="en-ID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404217"/>
            <a:ext cx="4297040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Hasil &amp; Pengujian Aplikasi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23640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Seluruh fungsionalitas sistem telah diuji dan berjalan sesuai harapan pada semua aktor.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3271" y="1404193"/>
            <a:ext cx="428848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1454051" y="1968252"/>
            <a:ext cx="18068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Aktor Sistem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3271" y="2232943"/>
            <a:ext cx="42884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Sekretariat, Kadin, Admin Bidang, Staff, Instansi Luar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413647" y="1404193"/>
            <a:ext cx="428848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10</a:t>
            </a:r>
            <a:endParaRPr lang="en-US" sz="3250" dirty="0"/>
          </a:p>
        </p:txBody>
      </p:sp>
      <p:sp>
        <p:nvSpPr>
          <p:cNvPr id="8" name="Text 6"/>
          <p:cNvSpPr/>
          <p:nvPr/>
        </p:nvSpPr>
        <p:spPr>
          <a:xfrm>
            <a:off x="5654427" y="1968252"/>
            <a:ext cx="18068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Halaman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13647" y="2232943"/>
            <a:ext cx="42884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Dashboard, surat masuk/keluar, disposisi, monitoring, laporan, profil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271" y="2711872"/>
            <a:ext cx="428848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</a:t>
            </a:r>
            <a:endParaRPr lang="en-US" sz="3250" dirty="0"/>
          </a:p>
        </p:txBody>
      </p:sp>
      <p:sp>
        <p:nvSpPr>
          <p:cNvPr id="11" name="Text 9"/>
          <p:cNvSpPr/>
          <p:nvPr/>
        </p:nvSpPr>
        <p:spPr>
          <a:xfrm>
            <a:off x="1454051" y="3275930"/>
            <a:ext cx="18068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Tabel Database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1871" y="3540621"/>
            <a:ext cx="4059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Kadin, Sekretariat, Admin Bidang, Staff, Bidang, Seksi, Surat Masuk, Disposisi, Surat Keluar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13647" y="2711872"/>
            <a:ext cx="4288482" cy="416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100%</a:t>
            </a:r>
            <a:endParaRPr lang="en-US" sz="3250" dirty="0"/>
          </a:p>
        </p:txBody>
      </p:sp>
      <p:sp>
        <p:nvSpPr>
          <p:cNvPr id="14" name="Text 12"/>
          <p:cNvSpPr/>
          <p:nvPr/>
        </p:nvSpPr>
        <p:spPr>
          <a:xfrm>
            <a:off x="5654427" y="3275930"/>
            <a:ext cx="18068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Hasil Pengujian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13647" y="3540621"/>
            <a:ext cx="42884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Seluruh skenario pengujian berhasil tanpa kegagalan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871" y="4049018"/>
            <a:ext cx="8260259" cy="690190"/>
          </a:xfrm>
          <a:prstGeom prst="roundRect">
            <a:avLst>
              <a:gd name="adj" fmla="val 7683"/>
            </a:avLst>
          </a:prstGeom>
          <a:solidFill>
            <a:srgbClr val="B6FCB8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7" y="4239220"/>
            <a:ext cx="157758" cy="12620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52041" y="4193009"/>
            <a:ext cx="7723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Semua skenario pengujian — login, registrasi, input surat, disposisi, verifikasi, monitoring, dan laporan — dinyatakan </a:t>
            </a:r>
            <a:r>
              <a:rPr lang="en-US" sz="9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berhasil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pada setiap aktor.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BECC4B-CEE2-D311-59BA-57CAFDBF1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821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Kesimpulan &amp; Saran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253803"/>
            <a:ext cx="4107135" cy="3291408"/>
          </a:xfrm>
          <a:prstGeom prst="roundRect">
            <a:avLst>
              <a:gd name="adj" fmla="val 3101"/>
            </a:avLst>
          </a:prstGeom>
          <a:solidFill>
            <a:srgbClr val="26A688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39556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Kesimpulan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5781" y="177648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0350" y="1803053"/>
            <a:ext cx="4412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6479" y="1822549"/>
            <a:ext cx="33629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 berhasil memfasilitasi transisi dari arsip fisik ke digital yang terstruktur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5781" y="2559695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350" y="2586261"/>
            <a:ext cx="4412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6479" y="2605757"/>
            <a:ext cx="33629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Aplikasi berfungsi optimal untuk manajemen surat masuk, disposisi, dan surat keluar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5781" y="334290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350" y="3369469"/>
            <a:ext cx="4412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6479" y="3388965"/>
            <a:ext cx="33629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Metode RAD efektif mempercepat pengembangan dengan perbaikan berbasis masukan pengguna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1395561"/>
            <a:ext cx="22748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Saran Pengembangan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749701" y="1776487"/>
            <a:ext cx="3902943" cy="775246"/>
          </a:xfrm>
          <a:prstGeom prst="roundRect">
            <a:avLst>
              <a:gd name="adj" fmla="val 11795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0651" y="1776487"/>
            <a:ext cx="76200" cy="775246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4967660" y="1937296"/>
            <a:ext cx="35241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Tambahkan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notifikasi otomatis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untuk surat/disposisi yang belum ditindaklanjuti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49701" y="2693491"/>
            <a:ext cx="3902943" cy="775246"/>
          </a:xfrm>
          <a:prstGeom prst="roundRect">
            <a:avLst>
              <a:gd name="adj" fmla="val 11795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0651" y="2693491"/>
            <a:ext cx="76200" cy="775246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</p:sp>
      <p:sp>
        <p:nvSpPr>
          <p:cNvPr id="20" name="Text 18"/>
          <p:cNvSpPr/>
          <p:nvPr/>
        </p:nvSpPr>
        <p:spPr>
          <a:xfrm>
            <a:off x="4967660" y="2854300"/>
            <a:ext cx="35241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Implementasikan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enkripsi data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dan backup berkala untuk keamanan arsip digital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49701" y="3610496"/>
            <a:ext cx="3902943" cy="775246"/>
          </a:xfrm>
          <a:prstGeom prst="roundRect">
            <a:avLst>
              <a:gd name="adj" fmla="val 11795"/>
            </a:avLst>
          </a:prstGeom>
          <a:solidFill>
            <a:srgbClr val="FFF8F0"/>
          </a:solidFill>
          <a:ln w="19050">
            <a:solidFill>
              <a:srgbClr val="E2C8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0651" y="3610496"/>
            <a:ext cx="76200" cy="775246"/>
          </a:xfrm>
          <a:prstGeom prst="roundRect">
            <a:avLst>
              <a:gd name="adj" fmla="val 78140"/>
            </a:avLst>
          </a:prstGeom>
          <a:solidFill>
            <a:srgbClr val="D2600F"/>
          </a:solidFill>
          <a:ln/>
        </p:spPr>
      </p:sp>
      <p:sp>
        <p:nvSpPr>
          <p:cNvPr id="23" name="Text 21"/>
          <p:cNvSpPr/>
          <p:nvPr/>
        </p:nvSpPr>
        <p:spPr>
          <a:xfrm>
            <a:off x="4967660" y="3771305"/>
            <a:ext cx="35241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Lakukan </a:t>
            </a: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pelatihan singkat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kepada arsiparis, staf, dan pimpinan untuk adaptasi sistem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508DE14-CED5-50CE-082B-32B0C1923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270" y="4819818"/>
            <a:ext cx="1055811" cy="293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808</Words>
  <Application>Microsoft Office PowerPoint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Bitter Medium</vt:lpstr>
      <vt:lpstr>Open Sans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bilqis nabila</dc:creator>
  <cp:lastModifiedBy>bilqis nabila</cp:lastModifiedBy>
  <cp:revision>4</cp:revision>
  <dcterms:created xsi:type="dcterms:W3CDTF">2026-05-20T15:28:59Z</dcterms:created>
  <dcterms:modified xsi:type="dcterms:W3CDTF">2026-05-21T02:32:44Z</dcterms:modified>
</cp:coreProperties>
</file>